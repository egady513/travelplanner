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58" r:id="rId6"/>
    <p:sldId id="260" r:id="rId7"/>
    <p:sldId id="259" r:id="rId8"/>
    <p:sldId id="261" r:id="rId9"/>
    <p:sldId id="262" r:id="rId10"/>
    <p:sldId id="266" r:id="rId11"/>
    <p:sldId id="263"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Page" id="{B3CA278D-7649-44DF-9EE7-91C0924A127C}">
          <p14:sldIdLst>
            <p14:sldId id="256"/>
            <p14:sldId id="264"/>
          </p14:sldIdLst>
        </p14:section>
        <p14:section name="Trip Details (Add a trip)" id="{361113B6-258A-4F01-864B-4A4EF8DB86B1}">
          <p14:sldIdLst>
            <p14:sldId id="265"/>
            <p14:sldId id="257"/>
            <p14:sldId id="258"/>
            <p14:sldId id="260"/>
            <p14:sldId id="259"/>
            <p14:sldId id="261"/>
            <p14:sldId id="262"/>
          </p14:sldIdLst>
        </p14:section>
        <p14:section name="Trip Overview" id="{6985AEBF-A650-4C66-B4C0-7FBC3CE6DCA2}">
          <p14:sldIdLst>
            <p14:sldId id="266"/>
            <p14:sldId id="263"/>
          </p14:sldIdLst>
        </p14:section>
        <p14:section name="Trip Itinerary" id="{A3CCFEC2-7FCB-4E7A-A297-840B573FF6AC}">
          <p14:sldIdLst>
            <p14:sldId id="267"/>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73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4D309-AE9B-034B-9C27-C5E2A3763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56E10-EEC6-0097-0CE1-793BE58437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E6BFE7-6979-39B7-E680-6C69C16C813A}"/>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9BC614DB-7858-4465-F348-B86252FE5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82EF2-A87D-8F5B-12BE-BAF5EB40E96D}"/>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1292395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F118-A307-F6D6-CD90-D87CADC5B6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1FB020-7FC2-F464-4297-B65FA7CA00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A5DA0-BFCE-FA1B-A16F-09E6E83D1BC2}"/>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F9FB4B65-D573-8A9F-3973-F05559E6A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D520-84F1-7DF5-DAE0-B28A04D21F60}"/>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267777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930C-A95A-4081-5A10-E391A06D5D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1AE6E0-6A28-350F-1131-961AA5CD6F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6AC43C-960F-2225-6EA4-CC92C642E5EF}"/>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A21B3884-3B7D-A358-EBC6-F5BFEF466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C90FB9-5E23-98AF-06A4-37260514EBFA}"/>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416413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0B0F-2AF4-EAEE-4FD2-D4691ED808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30A28-C230-AC6C-2E43-F7A8F58533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AD41FA-49D3-765F-17D8-C5A9F4AC90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1081BF-424B-31B4-5DAB-B4F0D2156170}"/>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6" name="Footer Placeholder 5">
            <a:extLst>
              <a:ext uri="{FF2B5EF4-FFF2-40B4-BE49-F238E27FC236}">
                <a16:creationId xmlns:a16="http://schemas.microsoft.com/office/drawing/2014/main" id="{DB214394-5701-DC39-127C-630AF9103C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8BF73D-3AED-492D-B554-367B01310567}"/>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2337051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87F2-A10C-BC02-ABD9-6DB1E93D0A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59E779-80DA-0073-EC6D-2EF224CE3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6714A0-7A18-E8AC-8FC0-3029746EB6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536950-63C0-27B0-8C34-97456C745B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5C2C0-B445-AEA7-7E13-216AB3090D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9146C9-A338-C0D3-563E-2FAFEFC75F0D}"/>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8" name="Footer Placeholder 7">
            <a:extLst>
              <a:ext uri="{FF2B5EF4-FFF2-40B4-BE49-F238E27FC236}">
                <a16:creationId xmlns:a16="http://schemas.microsoft.com/office/drawing/2014/main" id="{9D194422-7E42-BC8B-B547-E7C988CBD6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CDC7A1-3921-019B-106D-9D4EB5F9213C}"/>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4200782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153E-7B86-D355-3E77-116FBF0DEF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3191FF-63EA-0BCB-D75E-8E6AADBF479B}"/>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4" name="Footer Placeholder 3">
            <a:extLst>
              <a:ext uri="{FF2B5EF4-FFF2-40B4-BE49-F238E27FC236}">
                <a16:creationId xmlns:a16="http://schemas.microsoft.com/office/drawing/2014/main" id="{575CE1ED-62C8-EA61-4897-0C65A75860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EB1357-B84D-0282-FE4C-EF3AC104F17B}"/>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371907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C9903C-9DF0-5970-CA23-375A69343B46}"/>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3" name="Footer Placeholder 2">
            <a:extLst>
              <a:ext uri="{FF2B5EF4-FFF2-40B4-BE49-F238E27FC236}">
                <a16:creationId xmlns:a16="http://schemas.microsoft.com/office/drawing/2014/main" id="{9C1192F6-50C4-952B-4A90-7F3CD8034C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DA3E1B-87EF-808C-2814-604DA090642F}"/>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149979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4CF7E-CC44-1B56-3722-41EEE9F7D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CD7BE0-899B-9D0D-8C7E-4016415247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81E5A0-B8C4-3AE0-41FB-5A2333092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6AD02-E38E-1A0A-FA1E-44F02020A086}"/>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6" name="Footer Placeholder 5">
            <a:extLst>
              <a:ext uri="{FF2B5EF4-FFF2-40B4-BE49-F238E27FC236}">
                <a16:creationId xmlns:a16="http://schemas.microsoft.com/office/drawing/2014/main" id="{A532A2E0-A24B-79CE-1095-BC156E14CE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FD65B-947A-9425-756D-49F857364553}"/>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148044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A5A10-534E-BE57-A379-787A0D1095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43E18B-46CE-C7DC-00D8-3E0D34904F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F60A59-B770-0000-D4C3-8AB1B9344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FE8C1D-BAC3-08AD-47D6-7A1A4BA0254C}"/>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6" name="Footer Placeholder 5">
            <a:extLst>
              <a:ext uri="{FF2B5EF4-FFF2-40B4-BE49-F238E27FC236}">
                <a16:creationId xmlns:a16="http://schemas.microsoft.com/office/drawing/2014/main" id="{13C3DF40-49C8-A2AD-43ED-D5E71E1A19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253D4-686C-8EAB-4FF5-149809A93A5F}"/>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2519269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87FEA-E3F0-5911-8A37-EDE1CD1AAB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78ED43-2119-74B8-D701-871DD9D9B0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194498-337E-72AD-4CB4-9E99F1ECC782}"/>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1525E5B3-7E0B-7E0B-1249-276DEED4EA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8DB97-5473-9587-1C41-A96B5CE36DAF}"/>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1633909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6CC6D3-5FA0-FAEF-045E-62A2820505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17B334-10A8-66FC-CACA-06FB314568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DF556-0A73-9238-495A-1F0CC4B74360}"/>
              </a:ext>
            </a:extLst>
          </p:cNvPr>
          <p:cNvSpPr>
            <a:spLocks noGrp="1"/>
          </p:cNvSpPr>
          <p:nvPr>
            <p:ph type="dt" sz="half" idx="10"/>
          </p:nvPr>
        </p:nvSpPr>
        <p:spPr/>
        <p:txBody>
          <a:body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2730B660-22CD-14BD-148B-411A5A05F5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F064E-45D6-5226-230A-80400DCA8814}"/>
              </a:ext>
            </a:extLst>
          </p:cNvPr>
          <p:cNvSpPr>
            <a:spLocks noGrp="1"/>
          </p:cNvSpPr>
          <p:nvPr>
            <p:ph type="sldNum" sz="quarter" idx="12"/>
          </p:nvPr>
        </p:nvSpPr>
        <p:spPr/>
        <p:txBody>
          <a:bodyPr/>
          <a:lstStyle/>
          <a:p>
            <a:fld id="{08CA3BFF-750E-46F8-AFFE-7E6A9EC25FB2}" type="slidenum">
              <a:rPr lang="en-US" smtClean="0"/>
              <a:t>‹#›</a:t>
            </a:fld>
            <a:endParaRPr lang="en-US"/>
          </a:p>
        </p:txBody>
      </p:sp>
    </p:spTree>
    <p:extLst>
      <p:ext uri="{BB962C8B-B14F-4D97-AF65-F5344CB8AC3E}">
        <p14:creationId xmlns:p14="http://schemas.microsoft.com/office/powerpoint/2010/main" val="1239946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DDEA7A-E44F-6C11-AF00-A8A443015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B5E0AE-847B-04CD-6E73-508C55BD19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79B176-E234-C45D-117E-8386DD2E3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8ACD7-EC9F-4FB4-8C46-64CBCDAD6AD6}" type="datetimeFigureOut">
              <a:rPr lang="en-US" smtClean="0"/>
              <a:t>2/15/2026</a:t>
            </a:fld>
            <a:endParaRPr lang="en-US"/>
          </a:p>
        </p:txBody>
      </p:sp>
      <p:sp>
        <p:nvSpPr>
          <p:cNvPr id="5" name="Footer Placeholder 4">
            <a:extLst>
              <a:ext uri="{FF2B5EF4-FFF2-40B4-BE49-F238E27FC236}">
                <a16:creationId xmlns:a16="http://schemas.microsoft.com/office/drawing/2014/main" id="{0712BE4A-758D-F677-8700-DC3819A58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C1FC01-37CF-849C-ED78-B7CF01A36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CA3BFF-750E-46F8-AFFE-7E6A9EC25FB2}" type="slidenum">
              <a:rPr lang="en-US" smtClean="0"/>
              <a:t>‹#›</a:t>
            </a:fld>
            <a:endParaRPr lang="en-US"/>
          </a:p>
        </p:txBody>
      </p:sp>
    </p:spTree>
    <p:extLst>
      <p:ext uri="{BB962C8B-B14F-4D97-AF65-F5344CB8AC3E}">
        <p14:creationId xmlns:p14="http://schemas.microsoft.com/office/powerpoint/2010/main" val="2865434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EC4122-EF72-112F-5159-4CAFA549901C}"/>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4373EEF-E811-4540-E8E6-B93A78B675AE}"/>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CE09A54-3B68-D140-94E8-1B78CE29DE89}"/>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Homepage</a:t>
            </a:r>
          </a:p>
        </p:txBody>
      </p:sp>
      <p:sp>
        <p:nvSpPr>
          <p:cNvPr id="21" name="TextBox 20">
            <a:extLst>
              <a:ext uri="{FF2B5EF4-FFF2-40B4-BE49-F238E27FC236}">
                <a16:creationId xmlns:a16="http://schemas.microsoft.com/office/drawing/2014/main" id="{8E5BC7F0-9A10-C958-06D5-3E935C109CE5}"/>
              </a:ext>
            </a:extLst>
          </p:cNvPr>
          <p:cNvSpPr txBox="1"/>
          <p:nvPr/>
        </p:nvSpPr>
        <p:spPr>
          <a:xfrm>
            <a:off x="349204" y="1416028"/>
            <a:ext cx="11158617" cy="3539430"/>
          </a:xfrm>
          <a:prstGeom prst="rect">
            <a:avLst/>
          </a:prstGeom>
          <a:solidFill>
            <a:schemeClr val="bg1"/>
          </a:solidFill>
        </p:spPr>
        <p:txBody>
          <a:bodyPr wrap="square" rtlCol="0">
            <a:spAutoFit/>
          </a:bodyPr>
          <a:lstStyle/>
          <a:p>
            <a:r>
              <a:rPr lang="en-US" sz="2800" b="1" dirty="0"/>
              <a:t>This section details what the homepage should look like. On slide 2, you will see 3 clear things on the </a:t>
            </a:r>
            <a:r>
              <a:rPr lang="en-US" sz="2800" b="1" dirty="0" err="1"/>
              <a:t>hompage</a:t>
            </a:r>
            <a:r>
              <a:rPr lang="en-US" sz="2800" b="1" dirty="0"/>
              <a:t> wireframe</a:t>
            </a:r>
          </a:p>
          <a:p>
            <a:pPr marL="457200" indent="-457200">
              <a:buFontTx/>
              <a:buChar char="-"/>
            </a:pPr>
            <a:r>
              <a:rPr lang="en-US" sz="2800" b="1" dirty="0"/>
              <a:t>A welcome message</a:t>
            </a:r>
          </a:p>
          <a:p>
            <a:pPr marL="457200" indent="-457200">
              <a:buFontTx/>
              <a:buChar char="-"/>
            </a:pPr>
            <a:r>
              <a:rPr lang="en-US" sz="2800" b="1" dirty="0"/>
              <a:t>Ability to start a new trip</a:t>
            </a:r>
          </a:p>
          <a:p>
            <a:pPr marL="457200" indent="-457200">
              <a:buFontTx/>
              <a:buChar char="-"/>
            </a:pPr>
            <a:r>
              <a:rPr lang="en-US" sz="2800" b="1" dirty="0"/>
              <a:t>Ability to see previous trips</a:t>
            </a:r>
          </a:p>
          <a:p>
            <a:pPr marL="457200" indent="-457200">
              <a:buFontTx/>
              <a:buChar char="-"/>
            </a:pPr>
            <a:endParaRPr lang="en-US" sz="2800" b="1" dirty="0"/>
          </a:p>
          <a:p>
            <a:pPr marL="457200" indent="-457200">
              <a:buFontTx/>
              <a:buChar char="-"/>
            </a:pPr>
            <a:endParaRPr lang="en-US" sz="2800" b="1" dirty="0"/>
          </a:p>
          <a:p>
            <a:r>
              <a:rPr lang="en-US" sz="2800" b="1" dirty="0"/>
              <a:t>The home page is CRITICAL as it is the first thing users will view</a:t>
            </a:r>
          </a:p>
        </p:txBody>
      </p:sp>
    </p:spTree>
    <p:extLst>
      <p:ext uri="{BB962C8B-B14F-4D97-AF65-F5344CB8AC3E}">
        <p14:creationId xmlns:p14="http://schemas.microsoft.com/office/powerpoint/2010/main" val="2049831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6E2CB-1C3A-0E20-4AB7-D947F83BF86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FE05EEC-9C3A-740F-6CC6-917BAB0E68CA}"/>
              </a:ext>
            </a:extLst>
          </p:cNvPr>
          <p:cNvPicPr>
            <a:picLocks noChangeAspect="1"/>
          </p:cNvPicPr>
          <p:nvPr/>
        </p:nvPicPr>
        <p:blipFill>
          <a:blip r:embed="rId2"/>
          <a:srcRect l="9402"/>
          <a:stretch>
            <a:fillRect/>
          </a:stretch>
        </p:blipFill>
        <p:spPr>
          <a:xfrm>
            <a:off x="0" y="1759195"/>
            <a:ext cx="10966315" cy="4303904"/>
          </a:xfrm>
          <a:prstGeom prst="rect">
            <a:avLst/>
          </a:prstGeom>
        </p:spPr>
      </p:pic>
      <p:sp>
        <p:nvSpPr>
          <p:cNvPr id="10" name="Rectangle 9">
            <a:extLst>
              <a:ext uri="{FF2B5EF4-FFF2-40B4-BE49-F238E27FC236}">
                <a16:creationId xmlns:a16="http://schemas.microsoft.com/office/drawing/2014/main" id="{E401F45D-C6A2-DF12-FB7E-D8399567F37A}"/>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44FAF2-A801-93C4-BA94-253C4606DF44}"/>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838574D-734C-24A1-FF88-312C106C555C}"/>
              </a:ext>
            </a:extLst>
          </p:cNvPr>
          <p:cNvSpPr txBox="1"/>
          <p:nvPr/>
        </p:nvSpPr>
        <p:spPr>
          <a:xfrm>
            <a:off x="129285" y="2224327"/>
            <a:ext cx="4526605" cy="523220"/>
          </a:xfrm>
          <a:prstGeom prst="rect">
            <a:avLst/>
          </a:prstGeom>
          <a:solidFill>
            <a:schemeClr val="bg1"/>
          </a:solidFill>
        </p:spPr>
        <p:txBody>
          <a:bodyPr wrap="square" rtlCol="0">
            <a:spAutoFit/>
          </a:bodyPr>
          <a:lstStyle/>
          <a:p>
            <a:r>
              <a:rPr lang="en-US" sz="2800" b="1" dirty="0"/>
              <a:t>Your Trips</a:t>
            </a:r>
          </a:p>
        </p:txBody>
      </p:sp>
      <p:pic>
        <p:nvPicPr>
          <p:cNvPr id="20" name="Picture 19">
            <a:extLst>
              <a:ext uri="{FF2B5EF4-FFF2-40B4-BE49-F238E27FC236}">
                <a16:creationId xmlns:a16="http://schemas.microsoft.com/office/drawing/2014/main" id="{43F113CE-B118-CC48-36DE-1ADA71CEE7C3}"/>
              </a:ext>
            </a:extLst>
          </p:cNvPr>
          <p:cNvPicPr>
            <a:picLocks noChangeAspect="1"/>
          </p:cNvPicPr>
          <p:nvPr/>
        </p:nvPicPr>
        <p:blipFill>
          <a:blip r:embed="rId3"/>
          <a:stretch>
            <a:fillRect/>
          </a:stretch>
        </p:blipFill>
        <p:spPr>
          <a:xfrm>
            <a:off x="0" y="-2060670"/>
            <a:ext cx="10966315" cy="4244708"/>
          </a:xfrm>
          <a:prstGeom prst="rect">
            <a:avLst/>
          </a:prstGeom>
        </p:spPr>
      </p:pic>
    </p:spTree>
    <p:extLst>
      <p:ext uri="{BB962C8B-B14F-4D97-AF65-F5344CB8AC3E}">
        <p14:creationId xmlns:p14="http://schemas.microsoft.com/office/powerpoint/2010/main" val="3322058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170D-C93E-E166-67A4-0E66687624C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55C37D2-5AB9-295B-AC4E-7F678082FFE1}"/>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56C1EE-571A-DDD2-B22D-D5AF96A346B7}"/>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713868-C80C-3350-C75D-4AEDA3C83B8B}"/>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Start a new trip</a:t>
            </a:r>
          </a:p>
        </p:txBody>
      </p:sp>
      <p:sp>
        <p:nvSpPr>
          <p:cNvPr id="21" name="TextBox 20">
            <a:extLst>
              <a:ext uri="{FF2B5EF4-FFF2-40B4-BE49-F238E27FC236}">
                <a16:creationId xmlns:a16="http://schemas.microsoft.com/office/drawing/2014/main" id="{1BCAB16E-3F28-E90A-4913-410A935FF789}"/>
              </a:ext>
            </a:extLst>
          </p:cNvPr>
          <p:cNvSpPr txBox="1"/>
          <p:nvPr/>
        </p:nvSpPr>
        <p:spPr>
          <a:xfrm>
            <a:off x="349204" y="1416028"/>
            <a:ext cx="11158617" cy="4832092"/>
          </a:xfrm>
          <a:prstGeom prst="rect">
            <a:avLst/>
          </a:prstGeom>
          <a:solidFill>
            <a:schemeClr val="bg1"/>
          </a:solidFill>
        </p:spPr>
        <p:txBody>
          <a:bodyPr wrap="square" rtlCol="0">
            <a:spAutoFit/>
          </a:bodyPr>
          <a:lstStyle/>
          <a:p>
            <a:r>
              <a:rPr lang="en-US" sz="2800" b="1" dirty="0"/>
              <a:t>If the user selects start new trip on the homepage, a modal should pop up. The modal will have 6 sections for the user to click through to detail the trip. This information should be stored with the trip so that the AI assistant can help plan appropriately. </a:t>
            </a:r>
          </a:p>
          <a:p>
            <a:endParaRPr lang="en-US" sz="2800" b="1" dirty="0"/>
          </a:p>
          <a:p>
            <a:r>
              <a:rPr lang="en-US" sz="2800" b="1" dirty="0"/>
              <a:t>Notice:</a:t>
            </a:r>
          </a:p>
          <a:p>
            <a:pPr marL="457200" indent="-457200">
              <a:buFontTx/>
              <a:buChar char="-"/>
            </a:pPr>
            <a:r>
              <a:rPr lang="en-US" sz="2800" b="1" dirty="0"/>
              <a:t>The banner on the top of each section on the modal letting the user know where they are in the process. </a:t>
            </a:r>
          </a:p>
          <a:p>
            <a:pPr marL="457200" indent="-457200">
              <a:buFontTx/>
              <a:buChar char="-"/>
            </a:pPr>
            <a:r>
              <a:rPr lang="en-US" sz="2800" b="1" dirty="0"/>
              <a:t>The six steps are: trip basics, who’s going, travel style, lodging, budget, trip must haves </a:t>
            </a:r>
          </a:p>
          <a:p>
            <a:pPr marL="457200" indent="-457200">
              <a:buFontTx/>
              <a:buChar char="-"/>
            </a:pPr>
            <a:r>
              <a:rPr lang="en-US" sz="2800" b="1" dirty="0"/>
              <a:t>The wireframes for this modal are slides 4-9</a:t>
            </a:r>
          </a:p>
        </p:txBody>
      </p:sp>
    </p:spTree>
    <p:extLst>
      <p:ext uri="{BB962C8B-B14F-4D97-AF65-F5344CB8AC3E}">
        <p14:creationId xmlns:p14="http://schemas.microsoft.com/office/powerpoint/2010/main" val="91013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02E9F-81BC-699E-196C-6881B8831B6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089A44B-1A3C-A936-3A9F-E8FCFA8CFD53}"/>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DCCF7F-FC77-0516-5958-391F409AA36F}"/>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E67554-0608-42DC-B2B7-F3A6745BBE13}"/>
              </a:ext>
            </a:extLst>
          </p:cNvPr>
          <p:cNvPicPr>
            <a:picLocks noChangeAspect="1"/>
          </p:cNvPicPr>
          <p:nvPr/>
        </p:nvPicPr>
        <p:blipFill>
          <a:blip r:embed="rId2"/>
          <a:stretch>
            <a:fillRect/>
          </a:stretch>
        </p:blipFill>
        <p:spPr>
          <a:xfrm>
            <a:off x="2558794" y="446948"/>
            <a:ext cx="6264183" cy="6195597"/>
          </a:xfrm>
          <a:prstGeom prst="rect">
            <a:avLst/>
          </a:prstGeom>
        </p:spPr>
      </p:pic>
    </p:spTree>
    <p:extLst>
      <p:ext uri="{BB962C8B-B14F-4D97-AF65-F5344CB8AC3E}">
        <p14:creationId xmlns:p14="http://schemas.microsoft.com/office/powerpoint/2010/main" val="3866760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70E18-A64F-614E-6659-1A77905CDD2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ECE53D3-B54C-5F7E-5878-C6A3C292C2A1}"/>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6BADCA3-E5F8-A60C-0DC1-6398E194C079}"/>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CD085F5-F274-BEB6-FBEE-EF37CB081E36}"/>
              </a:ext>
            </a:extLst>
          </p:cNvPr>
          <p:cNvPicPr>
            <a:picLocks noChangeAspect="1"/>
          </p:cNvPicPr>
          <p:nvPr/>
        </p:nvPicPr>
        <p:blipFill>
          <a:blip r:embed="rId2"/>
          <a:stretch>
            <a:fillRect/>
          </a:stretch>
        </p:blipFill>
        <p:spPr>
          <a:xfrm>
            <a:off x="2906753" y="769389"/>
            <a:ext cx="6378493" cy="5319221"/>
          </a:xfrm>
          <a:prstGeom prst="rect">
            <a:avLst/>
          </a:prstGeom>
        </p:spPr>
      </p:pic>
    </p:spTree>
    <p:extLst>
      <p:ext uri="{BB962C8B-B14F-4D97-AF65-F5344CB8AC3E}">
        <p14:creationId xmlns:p14="http://schemas.microsoft.com/office/powerpoint/2010/main" val="3798925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673AE-1D0B-C45F-EC01-567E15C7F63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050EE62-0197-D9AC-EADF-6694963AE6F5}"/>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8FFDAA1-CB15-F3AE-B692-9F8E38B46AB6}"/>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248C87-FBAD-E822-970B-2DA8E504E329}"/>
              </a:ext>
            </a:extLst>
          </p:cNvPr>
          <p:cNvPicPr>
            <a:picLocks noChangeAspect="1"/>
          </p:cNvPicPr>
          <p:nvPr/>
        </p:nvPicPr>
        <p:blipFill>
          <a:blip r:embed="rId2"/>
          <a:stretch>
            <a:fillRect/>
          </a:stretch>
        </p:blipFill>
        <p:spPr>
          <a:xfrm>
            <a:off x="3690314" y="0"/>
            <a:ext cx="4811371" cy="6858000"/>
          </a:xfrm>
          <a:prstGeom prst="rect">
            <a:avLst/>
          </a:prstGeom>
        </p:spPr>
      </p:pic>
    </p:spTree>
    <p:extLst>
      <p:ext uri="{BB962C8B-B14F-4D97-AF65-F5344CB8AC3E}">
        <p14:creationId xmlns:p14="http://schemas.microsoft.com/office/powerpoint/2010/main" val="3732635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4CA85-8EF5-E275-31B8-8B5B946CCBD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22C6E14-3F4F-056D-E420-86F9635AF0A9}"/>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BAA1AA6-00F7-4B5D-15FE-2B5B4FA0E4F3}"/>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3F9DB29-9471-65DA-287B-EA16D02C7A9E}"/>
              </a:ext>
            </a:extLst>
          </p:cNvPr>
          <p:cNvPicPr>
            <a:picLocks noChangeAspect="1"/>
          </p:cNvPicPr>
          <p:nvPr/>
        </p:nvPicPr>
        <p:blipFill>
          <a:blip r:embed="rId2"/>
          <a:stretch>
            <a:fillRect/>
          </a:stretch>
        </p:blipFill>
        <p:spPr>
          <a:xfrm>
            <a:off x="2933426" y="544580"/>
            <a:ext cx="6325148" cy="5768840"/>
          </a:xfrm>
          <a:prstGeom prst="rect">
            <a:avLst/>
          </a:prstGeom>
        </p:spPr>
      </p:pic>
    </p:spTree>
    <p:extLst>
      <p:ext uri="{BB962C8B-B14F-4D97-AF65-F5344CB8AC3E}">
        <p14:creationId xmlns:p14="http://schemas.microsoft.com/office/powerpoint/2010/main" val="8226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2AE85-CA99-E19A-130B-3C517B7482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83154AE-4792-AB4A-A3A5-A5AC48E63283}"/>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010A58-FC63-CECC-102C-4B80F1F2A201}"/>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1918D5B-0BEE-4BFA-23EA-8887BE5CB2BA}"/>
              </a:ext>
            </a:extLst>
          </p:cNvPr>
          <p:cNvPicPr>
            <a:picLocks noChangeAspect="1"/>
          </p:cNvPicPr>
          <p:nvPr/>
        </p:nvPicPr>
        <p:blipFill>
          <a:blip r:embed="rId2"/>
          <a:stretch>
            <a:fillRect/>
          </a:stretch>
        </p:blipFill>
        <p:spPr>
          <a:xfrm>
            <a:off x="3573561" y="1211388"/>
            <a:ext cx="5044877" cy="4435224"/>
          </a:xfrm>
          <a:prstGeom prst="rect">
            <a:avLst/>
          </a:prstGeom>
        </p:spPr>
      </p:pic>
    </p:spTree>
    <p:extLst>
      <p:ext uri="{BB962C8B-B14F-4D97-AF65-F5344CB8AC3E}">
        <p14:creationId xmlns:p14="http://schemas.microsoft.com/office/powerpoint/2010/main" val="151371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3C45-EC7A-6D13-19F9-19EFAD5C200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E80EBC0-CF7E-92BE-085E-3A80AF1F1CB5}"/>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844768D-FC2F-EB7C-1C8E-E134B762C7FE}"/>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606E2B7-A928-4A26-6D5E-B3DB5E446422}"/>
              </a:ext>
            </a:extLst>
          </p:cNvPr>
          <p:cNvPicPr>
            <a:picLocks noChangeAspect="1"/>
          </p:cNvPicPr>
          <p:nvPr/>
        </p:nvPicPr>
        <p:blipFill>
          <a:blip r:embed="rId2"/>
          <a:stretch>
            <a:fillRect/>
          </a:stretch>
        </p:blipFill>
        <p:spPr>
          <a:xfrm>
            <a:off x="3535458" y="1135181"/>
            <a:ext cx="5121084" cy="4587638"/>
          </a:xfrm>
          <a:prstGeom prst="rect">
            <a:avLst/>
          </a:prstGeom>
        </p:spPr>
      </p:pic>
    </p:spTree>
    <p:extLst>
      <p:ext uri="{BB962C8B-B14F-4D97-AF65-F5344CB8AC3E}">
        <p14:creationId xmlns:p14="http://schemas.microsoft.com/office/powerpoint/2010/main" val="1524153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EA681-1F01-56F0-61B4-F0174EA0210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F14805-306C-1E85-C7B7-BC3072DF43A0}"/>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5A3A84-30D9-26FA-F875-3C0455683CFE}"/>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5361B4C-E5F1-DDE7-77FB-E94695FADAC7}"/>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Trip Overview</a:t>
            </a:r>
          </a:p>
        </p:txBody>
      </p:sp>
      <p:sp>
        <p:nvSpPr>
          <p:cNvPr id="21" name="TextBox 20">
            <a:extLst>
              <a:ext uri="{FF2B5EF4-FFF2-40B4-BE49-F238E27FC236}">
                <a16:creationId xmlns:a16="http://schemas.microsoft.com/office/drawing/2014/main" id="{BDA53E1F-F9E9-1B8C-2717-D0D59348910C}"/>
              </a:ext>
            </a:extLst>
          </p:cNvPr>
          <p:cNvSpPr txBox="1"/>
          <p:nvPr/>
        </p:nvSpPr>
        <p:spPr>
          <a:xfrm>
            <a:off x="349204" y="1416028"/>
            <a:ext cx="11158617" cy="5262979"/>
          </a:xfrm>
          <a:prstGeom prst="rect">
            <a:avLst/>
          </a:prstGeom>
          <a:solidFill>
            <a:schemeClr val="bg1"/>
          </a:solidFill>
        </p:spPr>
        <p:txBody>
          <a:bodyPr wrap="square" rtlCol="0">
            <a:spAutoFit/>
          </a:bodyPr>
          <a:lstStyle/>
          <a:p>
            <a:r>
              <a:rPr lang="en-US" sz="2800" b="1" dirty="0"/>
              <a:t>Once the trip has been started, the user can start building the itinerary &amp; trip activities. There are multiple views on this screen in which the user can toggle</a:t>
            </a:r>
          </a:p>
          <a:p>
            <a:endParaRPr lang="en-US" sz="2800" b="1" dirty="0"/>
          </a:p>
          <a:p>
            <a:r>
              <a:rPr lang="en-US" sz="2800" b="1" dirty="0"/>
              <a:t>Notice:</a:t>
            </a:r>
          </a:p>
          <a:p>
            <a:pPr marL="457200" indent="-457200">
              <a:buFontTx/>
              <a:buChar char="-"/>
            </a:pPr>
            <a:r>
              <a:rPr lang="en-US" sz="2800" b="1" dirty="0"/>
              <a:t>The map view – this is to view the route, the stops &amp; activities on the map. This view can be toggled on or off. </a:t>
            </a:r>
          </a:p>
          <a:p>
            <a:pPr marL="457200" indent="-457200">
              <a:buFontTx/>
              <a:buChar char="-"/>
            </a:pPr>
            <a:r>
              <a:rPr lang="en-US" sz="2800" b="1" dirty="0"/>
              <a:t>The itinerary view: a view to see each days activities. Can be accessed on the side bar</a:t>
            </a:r>
          </a:p>
          <a:p>
            <a:pPr marL="457200" indent="-457200">
              <a:buFontTx/>
              <a:buChar char="-"/>
            </a:pPr>
            <a:r>
              <a:rPr lang="en-US" sz="2800" b="1" dirty="0"/>
              <a:t>Dashboard view: This gives the overview of key items needed such as reservations, budgeting, passes, etc. It will also have a marker for days yet to plan &amp; any “red flags” or action items to fix</a:t>
            </a:r>
          </a:p>
        </p:txBody>
      </p:sp>
    </p:spTree>
    <p:extLst>
      <p:ext uri="{BB962C8B-B14F-4D97-AF65-F5344CB8AC3E}">
        <p14:creationId xmlns:p14="http://schemas.microsoft.com/office/powerpoint/2010/main" val="285094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CF803-E9E1-6F3F-5935-9F14E048557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5083A5-5E94-83B9-B7E3-9EF388FB1446}"/>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C36B4E3-83F0-5936-B3B1-C3DB6C314065}"/>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646B5C5-39CA-B534-E5F6-9ED308DE2920}"/>
              </a:ext>
            </a:extLst>
          </p:cNvPr>
          <p:cNvPicPr>
            <a:picLocks noChangeAspect="1"/>
          </p:cNvPicPr>
          <p:nvPr/>
        </p:nvPicPr>
        <p:blipFill>
          <a:blip r:embed="rId2"/>
          <a:stretch>
            <a:fillRect/>
          </a:stretch>
        </p:blipFill>
        <p:spPr>
          <a:xfrm>
            <a:off x="0" y="150211"/>
            <a:ext cx="12192000" cy="6557577"/>
          </a:xfrm>
          <a:prstGeom prst="rect">
            <a:avLst/>
          </a:prstGeom>
        </p:spPr>
      </p:pic>
    </p:spTree>
    <p:extLst>
      <p:ext uri="{BB962C8B-B14F-4D97-AF65-F5344CB8AC3E}">
        <p14:creationId xmlns:p14="http://schemas.microsoft.com/office/powerpoint/2010/main" val="121822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75467-C259-A663-F314-9035F0EE56D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C00D271-3836-0D6B-16E8-5787AB63B67B}"/>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E77070-A55C-E86B-7F4B-C0ECBD663E46}"/>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4440FC1-ABD4-1B5C-132A-FB1F2902716F}"/>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Trip Itinerary</a:t>
            </a:r>
          </a:p>
        </p:txBody>
      </p:sp>
      <p:sp>
        <p:nvSpPr>
          <p:cNvPr id="21" name="TextBox 20">
            <a:extLst>
              <a:ext uri="{FF2B5EF4-FFF2-40B4-BE49-F238E27FC236}">
                <a16:creationId xmlns:a16="http://schemas.microsoft.com/office/drawing/2014/main" id="{3FFF8671-8A4A-21E5-395A-2FE34253E1B2}"/>
              </a:ext>
            </a:extLst>
          </p:cNvPr>
          <p:cNvSpPr txBox="1"/>
          <p:nvPr/>
        </p:nvSpPr>
        <p:spPr>
          <a:xfrm>
            <a:off x="349204" y="1416028"/>
            <a:ext cx="11158617" cy="3539430"/>
          </a:xfrm>
          <a:prstGeom prst="rect">
            <a:avLst/>
          </a:prstGeom>
          <a:solidFill>
            <a:schemeClr val="bg1"/>
          </a:solidFill>
        </p:spPr>
        <p:txBody>
          <a:bodyPr wrap="square" rtlCol="0">
            <a:spAutoFit/>
          </a:bodyPr>
          <a:lstStyle/>
          <a:p>
            <a:r>
              <a:rPr lang="en-US" sz="1600" b="1" dirty="0"/>
              <a:t>The itinerary breaks down day by day. It can be viewed at a high level or clicked into. </a:t>
            </a:r>
          </a:p>
          <a:p>
            <a:endParaRPr lang="en-US" sz="1600" b="1" dirty="0"/>
          </a:p>
          <a:p>
            <a:r>
              <a:rPr lang="en-US" sz="1600" b="1" dirty="0"/>
              <a:t>Notice:</a:t>
            </a:r>
          </a:p>
          <a:p>
            <a:pPr marL="457200" indent="-457200">
              <a:buFontTx/>
              <a:buChar char="-"/>
            </a:pPr>
            <a:r>
              <a:rPr lang="en-US" sz="1600" b="1" dirty="0"/>
              <a:t>Slide 13: The full view of day by day</a:t>
            </a:r>
          </a:p>
          <a:p>
            <a:pPr marL="914400" lvl="1" indent="-457200">
              <a:buFontTx/>
              <a:buChar char="-"/>
            </a:pPr>
            <a:r>
              <a:rPr lang="en-US" sz="1600" b="1" dirty="0"/>
              <a:t>Note: There should be a validation that multiple days can’t be entered</a:t>
            </a:r>
          </a:p>
          <a:p>
            <a:pPr marL="457200" indent="-457200">
              <a:buFontTx/>
              <a:buChar char="-"/>
            </a:pPr>
            <a:r>
              <a:rPr lang="en-US" sz="1600" b="1" dirty="0"/>
              <a:t>Slide 14: Able to view the days details</a:t>
            </a:r>
          </a:p>
          <a:p>
            <a:pPr marL="914400" lvl="1" indent="-457200">
              <a:buFontTx/>
              <a:buChar char="-"/>
            </a:pPr>
            <a:r>
              <a:rPr lang="en-US" sz="1600" b="1" dirty="0"/>
              <a:t>Note: You’re able to see the type of day it is with a visual. In this example, it is a driving day and should have a car icon. It tells where driving to and from, hours of drive &amp; any stops or activities. It also shows where we plan to stay the night</a:t>
            </a:r>
          </a:p>
          <a:p>
            <a:pPr marL="914400" lvl="1" indent="-457200">
              <a:buFontTx/>
              <a:buChar char="-"/>
            </a:pPr>
            <a:r>
              <a:rPr lang="en-US" sz="1600" b="1" dirty="0"/>
              <a:t>Note: Can add activities to a certain day</a:t>
            </a:r>
          </a:p>
          <a:p>
            <a:pPr marL="457200" indent="-457200">
              <a:buFontTx/>
              <a:buChar char="-"/>
            </a:pPr>
            <a:r>
              <a:rPr lang="en-US" sz="1600" b="1" dirty="0"/>
              <a:t>Slie 15: Based on the trip details given on slides 4-9, the AI assistant helps call out areas of concern. You can see that it notes the drive time as longer than the user said they wanted. Another example could be choosing to camp but the next morning they plan to do an activity that a dog cannot join on – the AI assistant should call this out as </a:t>
            </a:r>
            <a:r>
              <a:rPr lang="en-US" sz="1600" b="1"/>
              <a:t>a concern. </a:t>
            </a:r>
            <a:endParaRPr lang="en-US" sz="1600" b="1" dirty="0"/>
          </a:p>
        </p:txBody>
      </p:sp>
    </p:spTree>
    <p:extLst>
      <p:ext uri="{BB962C8B-B14F-4D97-AF65-F5344CB8AC3E}">
        <p14:creationId xmlns:p14="http://schemas.microsoft.com/office/powerpoint/2010/main" val="2867258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AD9A5-F7B9-8A6B-8DEC-23982D887DA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8032BDD-FBEE-6CFC-E08C-0AB2A5450C65}"/>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57F9B54-3806-439A-581D-D05D34567F0C}"/>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97A687A-8F2A-66DE-F2C8-7C09102535F8}"/>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Trip Itinerary</a:t>
            </a:r>
          </a:p>
        </p:txBody>
      </p:sp>
      <p:pic>
        <p:nvPicPr>
          <p:cNvPr id="3" name="Picture 2">
            <a:extLst>
              <a:ext uri="{FF2B5EF4-FFF2-40B4-BE49-F238E27FC236}">
                <a16:creationId xmlns:a16="http://schemas.microsoft.com/office/drawing/2014/main" id="{E57CBCF7-7FC3-018C-6152-D90B6AC3F406}"/>
              </a:ext>
            </a:extLst>
          </p:cNvPr>
          <p:cNvPicPr>
            <a:picLocks noChangeAspect="1"/>
          </p:cNvPicPr>
          <p:nvPr/>
        </p:nvPicPr>
        <p:blipFill>
          <a:blip r:embed="rId2"/>
          <a:stretch>
            <a:fillRect/>
          </a:stretch>
        </p:blipFill>
        <p:spPr>
          <a:xfrm>
            <a:off x="3200399" y="749350"/>
            <a:ext cx="7498075" cy="5359300"/>
          </a:xfrm>
          <a:prstGeom prst="rect">
            <a:avLst/>
          </a:prstGeom>
        </p:spPr>
      </p:pic>
    </p:spTree>
    <p:extLst>
      <p:ext uri="{BB962C8B-B14F-4D97-AF65-F5344CB8AC3E}">
        <p14:creationId xmlns:p14="http://schemas.microsoft.com/office/powerpoint/2010/main" val="2997801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31DFA-B574-551B-E044-D36493C82DA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31514DB-F1D7-D49A-C6C3-3BCB1C0210C8}"/>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9DFB65F-67BD-5F1C-120F-3FC8BB8E83DC}"/>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0888BB2-67CF-628B-DC92-984F5B124B11}"/>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Trip Itinerary</a:t>
            </a:r>
          </a:p>
        </p:txBody>
      </p:sp>
      <p:pic>
        <p:nvPicPr>
          <p:cNvPr id="4" name="Picture 3">
            <a:extLst>
              <a:ext uri="{FF2B5EF4-FFF2-40B4-BE49-F238E27FC236}">
                <a16:creationId xmlns:a16="http://schemas.microsoft.com/office/drawing/2014/main" id="{83F9FA35-1087-2F84-5233-2CC228E3DA92}"/>
              </a:ext>
            </a:extLst>
          </p:cNvPr>
          <p:cNvPicPr>
            <a:picLocks noChangeAspect="1"/>
          </p:cNvPicPr>
          <p:nvPr/>
        </p:nvPicPr>
        <p:blipFill>
          <a:blip r:embed="rId2"/>
          <a:stretch>
            <a:fillRect/>
          </a:stretch>
        </p:blipFill>
        <p:spPr>
          <a:xfrm>
            <a:off x="1439776" y="2449745"/>
            <a:ext cx="9312447" cy="1958510"/>
          </a:xfrm>
          <a:prstGeom prst="rect">
            <a:avLst/>
          </a:prstGeom>
        </p:spPr>
      </p:pic>
    </p:spTree>
    <p:extLst>
      <p:ext uri="{BB962C8B-B14F-4D97-AF65-F5344CB8AC3E}">
        <p14:creationId xmlns:p14="http://schemas.microsoft.com/office/powerpoint/2010/main" val="2340776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2F075-B1B4-82EE-4726-47C72469446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C6134A7-2BCC-18EE-89AC-58AB3F94AA4D}"/>
              </a:ext>
            </a:extLst>
          </p:cNvPr>
          <p:cNvSpPr/>
          <p:nvPr/>
        </p:nvSpPr>
        <p:spPr>
          <a:xfrm>
            <a:off x="8664934" y="1759195"/>
            <a:ext cx="2130358" cy="1245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1E8607-700A-E6BA-5E72-7EE690B2CCC8}"/>
              </a:ext>
            </a:extLst>
          </p:cNvPr>
          <p:cNvSpPr/>
          <p:nvPr/>
        </p:nvSpPr>
        <p:spPr>
          <a:xfrm>
            <a:off x="0" y="5865236"/>
            <a:ext cx="12192000" cy="9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260C935-61EE-F4C9-A32D-9E414559E39F}"/>
              </a:ext>
            </a:extLst>
          </p:cNvPr>
          <p:cNvSpPr txBox="1"/>
          <p:nvPr/>
        </p:nvSpPr>
        <p:spPr>
          <a:xfrm>
            <a:off x="349204" y="499699"/>
            <a:ext cx="4526605" cy="523220"/>
          </a:xfrm>
          <a:prstGeom prst="rect">
            <a:avLst/>
          </a:prstGeom>
          <a:solidFill>
            <a:schemeClr val="bg1"/>
          </a:solidFill>
        </p:spPr>
        <p:txBody>
          <a:bodyPr wrap="square" rtlCol="0">
            <a:spAutoFit/>
          </a:bodyPr>
          <a:lstStyle/>
          <a:p>
            <a:r>
              <a:rPr lang="en-US" sz="2800" b="1" dirty="0"/>
              <a:t>Trip Itinerary</a:t>
            </a:r>
          </a:p>
        </p:txBody>
      </p:sp>
      <p:pic>
        <p:nvPicPr>
          <p:cNvPr id="3" name="Picture 2">
            <a:extLst>
              <a:ext uri="{FF2B5EF4-FFF2-40B4-BE49-F238E27FC236}">
                <a16:creationId xmlns:a16="http://schemas.microsoft.com/office/drawing/2014/main" id="{17F2007D-AF18-6CE6-D249-D3AC55467D3D}"/>
              </a:ext>
            </a:extLst>
          </p:cNvPr>
          <p:cNvPicPr>
            <a:picLocks noChangeAspect="1"/>
          </p:cNvPicPr>
          <p:nvPr/>
        </p:nvPicPr>
        <p:blipFill>
          <a:blip r:embed="rId2"/>
          <a:stretch>
            <a:fillRect/>
          </a:stretch>
        </p:blipFill>
        <p:spPr>
          <a:xfrm>
            <a:off x="1344518" y="1981074"/>
            <a:ext cx="9502964" cy="2895851"/>
          </a:xfrm>
          <a:prstGeom prst="rect">
            <a:avLst/>
          </a:prstGeom>
        </p:spPr>
      </p:pic>
    </p:spTree>
    <p:extLst>
      <p:ext uri="{BB962C8B-B14F-4D97-AF65-F5344CB8AC3E}">
        <p14:creationId xmlns:p14="http://schemas.microsoft.com/office/powerpoint/2010/main" val="3599464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495</Words>
  <Application>Microsoft Office PowerPoint</Application>
  <PresentationFormat>Widescreen</PresentationFormat>
  <Paragraphs>36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Eddie Gady</dc:creator>
  <cp:lastModifiedBy>Eddie Gady</cp:lastModifiedBy>
  <cp:revision>2</cp:revision>
  <dcterms:created xsi:type="dcterms:W3CDTF">2026-02-16T00:22:45Z</dcterms:created>
  <dcterms:modified xsi:type="dcterms:W3CDTF">2026-02-16T01:48:27Z</dcterms:modified>
</cp:coreProperties>
</file>